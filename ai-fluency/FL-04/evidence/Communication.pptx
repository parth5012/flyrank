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pic>
        <p:nvPicPr>
          <p:cNvPr id="9" name="Picture 8" descr="bg_w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100584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45920" y="1645920"/>
            <a:ext cx="228600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194560"/>
            <a:ext cx="8961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F172A"/>
                </a:solidFill>
                <a:latin typeface="Segoe UI"/>
              </a:defRPr>
            </a:pPr>
            <a:r>
              <a:t>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840480"/>
            <a:ext cx="8961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EA5E9"/>
                </a:solidFill>
                <a:latin typeface="Segoe UI"/>
              </a:defRPr>
            </a:pPr>
            <a:r>
              <a:t>Theory, Types &amp; Workplace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93776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66F1"/>
                </a:solidFill>
                <a:latin typeface="Segoe UI"/>
              </a:defRPr>
            </a:pPr>
            <a:r>
              <a:t>Presented by: Yukti  •  September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pic>
        <p:nvPicPr>
          <p:cNvPr id="18" name="Picture 17" descr="bg_wid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0" y="548640"/>
            <a:ext cx="548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What is Communication?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5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Origin: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Derived from Latin </a:t>
            </a:r>
            <a:r>
              <a:rPr b="0" i="1" sz="1400">
                <a:solidFill>
                  <a:srgbClr val="0F172A"/>
                </a:solidFill>
                <a:latin typeface="Segoe UI"/>
              </a:rPr>
              <a:t>communicare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, meaning "to share" or "to make common."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16352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45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07792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Core Definition: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The process of exchanging information, ideas, thoughts, feelings, opinions, and messages between two or more people.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95344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86783"/>
            <a:ext cx="45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86783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In Simple Words: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A mutual sharing of thoughts and understanding with one another.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74336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065775"/>
            <a:ext cx="45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065775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Two-Way Process: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A message is transmitted by one person and accurately comprehended by another.</a:t>
            </a:r>
          </a:p>
        </p:txBody>
      </p:sp>
    </p:spTree>
  </p:cSld>
  <p:clrMapOvr>
    <a:masterClrMapping/>
  </p:clrMapOvr>
  <p:transition spd="med">
    <p:push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pic>
        <p:nvPicPr>
          <p:cNvPr id="15" name="Picture 14" descr="bg_wid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0" y="548640"/>
            <a:ext cx="548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THEORETICAL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Classic Definitions of Communication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5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Keith Davis: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"Communication is the process of passing information and understanding from one person to another."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16352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45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07792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Edwin B. Flippo: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"Communication is the act of inducing others to interpret an idea in the manner intended by the speaker or writer."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95344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86783"/>
            <a:ext cx="45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86783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Newman &amp; Summer: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"Communication is an exchange of facts, ideas, opinions and emotions by two or more persons."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pic>
        <p:nvPicPr>
          <p:cNvPr id="21" name="Picture 20" descr="bg_wid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0" y="548640"/>
            <a:ext cx="548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PROCESS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The Communication Process &amp; Its Core Elements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Sequential Flow: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Sender ➔ Encoding ➔ Message ➔ Channel ➔ Receiver ➔ Decoding ➔ Feedback (subject to Noise/Barriers)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33472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24912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24912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Sender &amp; Encoding: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Originator formulating thoughts into structured words, symbols, or gestures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9584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21024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2102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Message &amp; Channel: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The actual content communicated via oral, written, digital, or visual transmission media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25696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517136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17136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Receiver &amp; Decoding: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The audience receiving, interpreting, and assigning meaning to the message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21808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413248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41324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Feedback &amp; Noise: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The response confirming accurate transmission; noise represents any cognitive or physical interference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pic>
        <p:nvPicPr>
          <p:cNvPr id="12" name="Picture 11" descr="bg_wid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0" y="548640"/>
            <a:ext cx="548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COMPARATIVE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Verbal Communication — Oral vs. Written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212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Oral Communication (Spoken)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6634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▸ </a:t>
            </a:r>
            <a:r>
              <a:rPr b="1" i="0" sz="1300">
                <a:solidFill>
                  <a:srgbClr val="0F172A"/>
                </a:solidFill>
                <a:latin typeface="Segoe UI"/>
              </a:rPr>
              <a:t>Channels:</a:t>
            </a:r>
            <a:r>
              <a:rPr b="0" i="0" sz="1300">
                <a:solidFill>
                  <a:srgbClr val="0F172A"/>
                </a:solidFill>
                <a:latin typeface="Segoe UI"/>
              </a:rPr>
              <a:t> Face-to-face dialogues, phone calls, meetings, interviews, seminars, video conferences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▸ </a:t>
            </a:r>
            <a:r>
              <a:rPr b="1" i="0" sz="1300">
                <a:solidFill>
                  <a:srgbClr val="0F172A"/>
                </a:solidFill>
                <a:latin typeface="Segoe UI"/>
              </a:rPr>
              <a:t>Advantage:</a:t>
            </a:r>
            <a:r>
              <a:rPr b="0" i="0" sz="1300">
                <a:solidFill>
                  <a:srgbClr val="0F172A"/>
                </a:solidFill>
                <a:latin typeface="Segoe UI"/>
              </a:rPr>
              <a:t> Rapid, direct, immediate reciprocal feedback &amp; clarification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▸ </a:t>
            </a:r>
            <a:r>
              <a:rPr b="1" i="0" sz="1300">
                <a:solidFill>
                  <a:srgbClr val="0F172A"/>
                </a:solidFill>
                <a:latin typeface="Segoe UI"/>
              </a:rPr>
              <a:t>Advantage:</a:t>
            </a:r>
            <a:r>
              <a:rPr b="0" i="0" sz="1300">
                <a:solidFill>
                  <a:srgbClr val="0F172A"/>
                </a:solidFill>
                <a:latin typeface="Segoe UI"/>
              </a:rPr>
              <a:t> Tone, pitch, inflection, and emphasis enrich semantic meaning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▸ </a:t>
            </a:r>
            <a:r>
              <a:rPr b="1" i="0" sz="1300">
                <a:solidFill>
                  <a:srgbClr val="0F172A"/>
                </a:solidFill>
                <a:latin typeface="Segoe UI"/>
              </a:rPr>
              <a:t>Limitation:</a:t>
            </a:r>
            <a:r>
              <a:rPr b="0" i="0" sz="1300">
                <a:solidFill>
                  <a:srgbClr val="0F172A"/>
                </a:solidFill>
                <a:latin typeface="Segoe UI"/>
              </a:rPr>
              <a:t> Lacks permanent documentary record; prone to distortion &amp; memory loss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▸ </a:t>
            </a:r>
            <a:r>
              <a:rPr b="1" i="0" sz="1300">
                <a:solidFill>
                  <a:srgbClr val="0F172A"/>
                </a:solidFill>
                <a:latin typeface="Segoe UI"/>
              </a:rPr>
              <a:t>Limitation:</a:t>
            </a:r>
            <a:r>
              <a:rPr b="0" i="0" sz="1300">
                <a:solidFill>
                  <a:srgbClr val="0F172A"/>
                </a:solidFill>
                <a:latin typeface="Segoe UI"/>
              </a:rPr>
              <a:t> Heavily vulnerable to auditory noise and accent/pronunciation barriers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73736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5352" y="1737360"/>
            <a:ext cx="5212080" cy="640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Written Communication (Textual)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560320"/>
            <a:ext cx="46634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  <a:latin typeface="Segoe UI"/>
              </a:rPr>
              <a:t>▸ </a:t>
            </a:r>
            <a:r>
              <a:rPr b="1" i="0" sz="1300">
                <a:solidFill>
                  <a:srgbClr val="0F172A"/>
                </a:solidFill>
                <a:latin typeface="Segoe UI"/>
              </a:rPr>
              <a:t>Channels:</a:t>
            </a:r>
            <a:r>
              <a:rPr b="0" i="0" sz="1300">
                <a:solidFill>
                  <a:srgbClr val="0F172A"/>
                </a:solidFill>
                <a:latin typeface="Segoe UI"/>
              </a:rPr>
              <a:t> Official letters, emails, memos, technical reports, circulars, legal documentation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  <a:latin typeface="Segoe UI"/>
              </a:rPr>
              <a:t>▸ </a:t>
            </a:r>
            <a:r>
              <a:rPr b="1" i="0" sz="1300">
                <a:solidFill>
                  <a:srgbClr val="0F172A"/>
                </a:solidFill>
                <a:latin typeface="Segoe UI"/>
              </a:rPr>
              <a:t>Advantage:</a:t>
            </a:r>
            <a:r>
              <a:rPr b="0" i="0" sz="1300">
                <a:solidFill>
                  <a:srgbClr val="0F172A"/>
                </a:solidFill>
                <a:latin typeface="Segoe UI"/>
              </a:rPr>
              <a:t> Creates a permanent, verifiable, legally enforceable archival record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  <a:latin typeface="Segoe UI"/>
              </a:rPr>
              <a:t>▸ </a:t>
            </a:r>
            <a:r>
              <a:rPr b="1" i="0" sz="1300">
                <a:solidFill>
                  <a:srgbClr val="0F172A"/>
                </a:solidFill>
                <a:latin typeface="Segoe UI"/>
              </a:rPr>
              <a:t>Advantage:</a:t>
            </a:r>
            <a:r>
              <a:rPr b="0" i="0" sz="1300">
                <a:solidFill>
                  <a:srgbClr val="0F172A"/>
                </a:solidFill>
                <a:latin typeface="Segoe UI"/>
              </a:rPr>
              <a:t> Enables meticulous drafting, precision editing, and logical organization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  <a:latin typeface="Segoe UI"/>
              </a:rPr>
              <a:t>▸ </a:t>
            </a:r>
            <a:r>
              <a:rPr b="1" i="0" sz="1300">
                <a:solidFill>
                  <a:srgbClr val="0F172A"/>
                </a:solidFill>
                <a:latin typeface="Segoe UI"/>
              </a:rPr>
              <a:t>Limitation:</a:t>
            </a:r>
            <a:r>
              <a:rPr b="0" i="0" sz="1300">
                <a:solidFill>
                  <a:srgbClr val="0F172A"/>
                </a:solidFill>
                <a:latin typeface="Segoe UI"/>
              </a:rPr>
              <a:t> Time-intensive production; lacks real-time interactive feedback loops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  <a:latin typeface="Segoe UI"/>
              </a:rPr>
              <a:t>▸ </a:t>
            </a:r>
            <a:r>
              <a:rPr b="1" i="0" sz="1300">
                <a:solidFill>
                  <a:srgbClr val="0F172A"/>
                </a:solidFill>
                <a:latin typeface="Segoe UI"/>
              </a:rPr>
              <a:t>Limitation:</a:t>
            </a:r>
            <a:r>
              <a:rPr b="0" i="0" sz="1300">
                <a:solidFill>
                  <a:srgbClr val="0F172A"/>
                </a:solidFill>
                <a:latin typeface="Segoe UI"/>
              </a:rPr>
              <a:t> Requires reading literacy; poor phrasing or ambiguity triggers misinterpretation</a:t>
            </a:r>
          </a:p>
        </p:txBody>
      </p:sp>
    </p:spTree>
  </p:cSld>
  <p:clrMapOvr>
    <a:masterClrMapping/>
  </p:clrMapOvr>
  <p:transition spd="med">
    <p:push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pic>
        <p:nvPicPr>
          <p:cNvPr id="21" name="Picture 20" descr="bg_wid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0" y="548640"/>
            <a:ext cx="548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BODY LANGUAGE &amp; CUES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Non-Verbal Communication: Forms &amp; Signals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Essence: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Transmitting signals and messages without spoken or written language — accounts for over 65% of interpersonal impact.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33472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24912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24912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Kinesics (Facial &amp; Gestural):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Facial expressions (smile, frown) and hand gestures (waving, pointing, nodding) convey emotional valence.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9584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21024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2102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Oculesics &amp; Posture: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Eye contact displays attentiveness and confidence; upright posture indicates alertness while slouching signals disinterest.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25696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517136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17136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Proxemics &amp; Haptics: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Use of interpersonal spatial distance (intimate vs social) and tactile touch (firm handshake vs supportive pat).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21808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413248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41324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Paralanguage &amp; Silence: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Vocal pitch, volume, pacing, pauses, and strategic silence communicate intent, deference, or reflection.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pic>
        <p:nvPicPr>
          <p:cNvPr id="12" name="Picture 11" descr="bg_wid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0" y="548640"/>
            <a:ext cx="548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SYNTHESIS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Verbal vs. Non-Verbal —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212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Verbal Dimension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6634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▸ </a:t>
            </a:r>
            <a:r>
              <a:rPr b="1" i="0" sz="1300">
                <a:solidFill>
                  <a:srgbClr val="0F172A"/>
                </a:solidFill>
                <a:latin typeface="Segoe UI"/>
              </a:rPr>
              <a:t>Mechanism:</a:t>
            </a:r>
            <a:r>
              <a:rPr b="0" i="0" sz="1300">
                <a:solidFill>
                  <a:srgbClr val="0F172A"/>
                </a:solidFill>
                <a:latin typeface="Segoe UI"/>
              </a:rPr>
              <a:t> Linguistic words (spoken or written)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▸ </a:t>
            </a:r>
            <a:r>
              <a:rPr b="1" i="0" sz="1300">
                <a:solidFill>
                  <a:srgbClr val="0F172A"/>
                </a:solidFill>
                <a:latin typeface="Segoe UI"/>
              </a:rPr>
              <a:t>Expression:</a:t>
            </a:r>
            <a:r>
              <a:rPr b="0" i="0" sz="1300">
                <a:solidFill>
                  <a:srgbClr val="0F172A"/>
                </a:solidFill>
                <a:latin typeface="Segoe UI"/>
              </a:rPr>
              <a:t> Explicit, structured, logical statements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▸ </a:t>
            </a:r>
            <a:r>
              <a:rPr b="1" i="0" sz="1300">
                <a:solidFill>
                  <a:srgbClr val="0F172A"/>
                </a:solidFill>
                <a:latin typeface="Segoe UI"/>
              </a:rPr>
              <a:t>Requirements:</a:t>
            </a:r>
            <a:r>
              <a:rPr b="0" i="0" sz="1300">
                <a:solidFill>
                  <a:srgbClr val="0F172A"/>
                </a:solidFill>
                <a:latin typeface="Segoe UI"/>
              </a:rPr>
              <a:t> Strict grammatical syntax &amp; vocabulary mastery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▸ </a:t>
            </a:r>
            <a:r>
              <a:rPr b="1" i="0" sz="1300">
                <a:solidFill>
                  <a:srgbClr val="0F172A"/>
                </a:solidFill>
                <a:latin typeface="Segoe UI"/>
              </a:rPr>
              <a:t>Primary Role:</a:t>
            </a:r>
            <a:r>
              <a:rPr b="0" i="0" sz="1300">
                <a:solidFill>
                  <a:srgbClr val="0F172A"/>
                </a:solidFill>
                <a:latin typeface="Segoe UI"/>
              </a:rPr>
              <a:t> Transmits complex conceptual &amp; technical data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▸ </a:t>
            </a:r>
            <a:r>
              <a:rPr b="1" i="0" sz="1300">
                <a:solidFill>
                  <a:srgbClr val="0F172A"/>
                </a:solidFill>
                <a:latin typeface="Segoe UI"/>
              </a:rPr>
              <a:t>Examples:</a:t>
            </a:r>
            <a:r>
              <a:rPr b="0" i="0" sz="1300">
                <a:solidFill>
                  <a:srgbClr val="0F172A"/>
                </a:solidFill>
                <a:latin typeface="Segoe UI"/>
              </a:rPr>
              <a:t> Keynote speeches, policy documents, email briefs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73736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5352" y="1737360"/>
            <a:ext cx="5212080" cy="640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Non-Verbal Dimension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560320"/>
            <a:ext cx="46634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  <a:latin typeface="Segoe UI"/>
              </a:rPr>
              <a:t>▸ </a:t>
            </a:r>
            <a:r>
              <a:rPr b="1" i="0" sz="1300">
                <a:solidFill>
                  <a:srgbClr val="0F172A"/>
                </a:solidFill>
                <a:latin typeface="Segoe UI"/>
              </a:rPr>
              <a:t>Mechanism:</a:t>
            </a:r>
            <a:r>
              <a:rPr b="0" i="0" sz="1300">
                <a:solidFill>
                  <a:srgbClr val="0F172A"/>
                </a:solidFill>
                <a:latin typeface="Segoe UI"/>
              </a:rPr>
              <a:t> Physical cues, expressions, spatial posture &amp; voice tone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  <a:latin typeface="Segoe UI"/>
              </a:rPr>
              <a:t>▸ </a:t>
            </a:r>
            <a:r>
              <a:rPr b="1" i="0" sz="1300">
                <a:solidFill>
                  <a:srgbClr val="0F172A"/>
                </a:solidFill>
                <a:latin typeface="Segoe UI"/>
              </a:rPr>
              <a:t>Expression:</a:t>
            </a:r>
            <a:r>
              <a:rPr b="0" i="0" sz="1300">
                <a:solidFill>
                  <a:srgbClr val="0F172A"/>
                </a:solidFill>
                <a:latin typeface="Segoe UI"/>
              </a:rPr>
              <a:t> Implicit, affective, emotional &amp; relational states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  <a:latin typeface="Segoe UI"/>
              </a:rPr>
              <a:t>▸ </a:t>
            </a:r>
            <a:r>
              <a:rPr b="1" i="0" sz="1300">
                <a:solidFill>
                  <a:srgbClr val="0F172A"/>
                </a:solidFill>
                <a:latin typeface="Segoe UI"/>
              </a:rPr>
              <a:t>Requirements:</a:t>
            </a:r>
            <a:r>
              <a:rPr b="0" i="0" sz="1300">
                <a:solidFill>
                  <a:srgbClr val="0F172A"/>
                </a:solidFill>
                <a:latin typeface="Segoe UI"/>
              </a:rPr>
              <a:t> Cultural contextual awareness &amp; social intuition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  <a:latin typeface="Segoe UI"/>
              </a:rPr>
              <a:t>▸ </a:t>
            </a:r>
            <a:r>
              <a:rPr b="1" i="0" sz="1300">
                <a:solidFill>
                  <a:srgbClr val="0F172A"/>
                </a:solidFill>
                <a:latin typeface="Segoe UI"/>
              </a:rPr>
              <a:t>Primary Role:</a:t>
            </a:r>
            <a:r>
              <a:rPr b="0" i="0" sz="1300">
                <a:solidFill>
                  <a:srgbClr val="0F172A"/>
                </a:solidFill>
                <a:latin typeface="Segoe UI"/>
              </a:rPr>
              <a:t> Modifies, reinforces, or contradicts verbal messages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EA5E9"/>
                </a:solidFill>
                <a:latin typeface="Segoe UI"/>
              </a:rPr>
              <a:t>▸ </a:t>
            </a:r>
            <a:r>
              <a:rPr b="1" i="0" sz="1300">
                <a:solidFill>
                  <a:srgbClr val="0F172A"/>
                </a:solidFill>
                <a:latin typeface="Segoe UI"/>
              </a:rPr>
              <a:t>Examples:</a:t>
            </a:r>
            <a:r>
              <a:rPr b="0" i="0" sz="1300">
                <a:solidFill>
                  <a:srgbClr val="0F172A"/>
                </a:solidFill>
                <a:latin typeface="Segoe UI"/>
              </a:rPr>
              <a:t> Warm smile, steady eye contact, professional stance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pic>
        <p:nvPicPr>
          <p:cNvPr id="21" name="Picture 20" descr="bg_wid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0" y="548640"/>
            <a:ext cx="548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EXCELLENCE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Principles of Effective Communication: The 7 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Clear: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Message must be easily understood with unambiguous purpose and plain phrasing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33472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24912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24912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Concise: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Direct and brief, eliminating filler, redundancy, and unnecessary verbosity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9584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21024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2102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Correct: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Factually accurate, grammatically sound, and tailored to the audience standard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25696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517136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17136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Complete &amp; Concrete: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Contains all necessary decision context; uses specific data over vague abstractions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21808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413248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41324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Coherent &amp; Courteous: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Logically structured progression conveyed with politeness, empathy, and respect</a:t>
            </a:r>
          </a:p>
        </p:txBody>
      </p:sp>
    </p:spTree>
  </p:cSld>
  <p:clrMapOvr>
    <a:masterClrMapping/>
  </p:clrMapOvr>
  <p:transition spd="med">
    <p:push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pic>
        <p:nvPicPr>
          <p:cNvPr id="18" name="Picture 17" descr="bg_wid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0" y="548640"/>
            <a:ext cx="548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ORGANIZATIONAL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Workplace &amp; Interpersonal Communication Dynamics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5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Workplace Scope: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Professional information exchange across hierarchies (employer-employee, peer collaboration, client relations).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16352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45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07792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Interpersonal Depth: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Dyadic or small-group interaction cultivating trust, psychological safety, and shared alignment.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95344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86783"/>
            <a:ext cx="45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86783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Key Modalities: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Task delegating, structured briefings, formal status emails, performance reviews, and team problem-solving.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74336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065775"/>
            <a:ext cx="45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065775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Register Adaptation: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Knowing when to shift from formal enquiry ("Could you please clarify...") to collaborative discussion.</a:t>
            </a: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pic>
        <p:nvPicPr>
          <p:cNvPr id="18" name="Picture 17" descr="bg_wid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0" y="548640"/>
            <a:ext cx="548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ETIQUETTE &amp;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Seeking Permission, Requests &amp; Enquiries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5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Seeking Permission: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Politely requesting authorization ("May I leave early today for an urgent medical appointment?").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16352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45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07792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Making Requests: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Asking someone to execute a task ("Could you please share the updated quarterly deck by 3 PM?").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95344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86783"/>
            <a:ext cx="45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86783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Conducting Enquiries: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Seeking specific information or procedural guidance ("Could you kindly explain the admission eligibility criteria?").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74336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065775"/>
            <a:ext cx="45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065775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400">
                <a:solidFill>
                  <a:srgbClr val="0F172A"/>
                </a:solidFill>
                <a:latin typeface="Segoe UI"/>
              </a:rPr>
              <a:t>Contextual Framing:</a:t>
            </a:r>
            <a:r>
              <a:rPr b="0" i="0" sz="1400">
                <a:solidFill>
                  <a:srgbClr val="0F172A"/>
                </a:solidFill>
                <a:latin typeface="Segoe UI"/>
              </a:rPr>
              <a:t> Classroom etiquette ("May I enter, ma'am?") vs Corporate diplomacy ("I would like to request leave for Friday").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pic>
        <p:nvPicPr>
          <p:cNvPr id="27" name="Picture 26" descr="bg_wid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0" y="548640"/>
            <a:ext cx="548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END-TO-END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Putting It All Together — The Communication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66444" y="2377440"/>
            <a:ext cx="962863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35607" y="201168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956815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1. Ideate &amp; Encode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17739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sz="1200">
                <a:solidFill>
                  <a:srgbClr val="0EA5E9"/>
                </a:solidFill>
                <a:latin typeface="Segoe UI"/>
              </a:rPr>
              <a:t>Sender crystallizes intent and selects optimal verbal and non-verbal vocabulary</a:t>
            </a:r>
          </a:p>
        </p:txBody>
      </p:sp>
      <p:sp>
        <p:nvSpPr>
          <p:cNvPr id="11" name="Oval 10"/>
          <p:cNvSpPr/>
          <p:nvPr/>
        </p:nvSpPr>
        <p:spPr>
          <a:xfrm>
            <a:off x="3575303" y="201168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2656" y="3017520"/>
            <a:ext cx="1956815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54096" y="310896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2. Transmit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3749039"/>
            <a:ext cx="17739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sz="1200">
                <a:solidFill>
                  <a:srgbClr val="0EA5E9"/>
                </a:solidFill>
                <a:latin typeface="Segoe UI"/>
              </a:rPr>
              <a:t>Message is dispatched through the most suitable oral or written channel</a:t>
            </a:r>
          </a:p>
        </p:txBody>
      </p:sp>
      <p:sp>
        <p:nvSpPr>
          <p:cNvPr id="15" name="Oval 14"/>
          <p:cNvSpPr/>
          <p:nvPr/>
        </p:nvSpPr>
        <p:spPr>
          <a:xfrm>
            <a:off x="5714999" y="201168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2351" y="3017520"/>
            <a:ext cx="1956815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3792" y="310896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3. Filter &amp; Decode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3749039"/>
            <a:ext cx="17739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sz="1200">
                <a:solidFill>
                  <a:srgbClr val="0EA5E9"/>
                </a:solidFill>
                <a:latin typeface="Segoe UI"/>
              </a:rPr>
              <a:t>Receiver decodes symbols against personal context while mitigating noise</a:t>
            </a:r>
          </a:p>
        </p:txBody>
      </p:sp>
      <p:sp>
        <p:nvSpPr>
          <p:cNvPr id="19" name="Oval 18"/>
          <p:cNvSpPr/>
          <p:nvPr/>
        </p:nvSpPr>
        <p:spPr>
          <a:xfrm>
            <a:off x="7854696" y="201168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42047" y="3017520"/>
            <a:ext cx="1956815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3488" y="310896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4. Close Loop (Feedback)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3749039"/>
            <a:ext cx="17739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sz="1200">
                <a:solidFill>
                  <a:srgbClr val="0EA5E9"/>
                </a:solidFill>
                <a:latin typeface="Segoe UI"/>
              </a:rPr>
              <a:t>Receiver articulates acknowledgment or response, verifying mutual alignment</a:t>
            </a:r>
          </a:p>
        </p:txBody>
      </p:sp>
      <p:sp>
        <p:nvSpPr>
          <p:cNvPr id="23" name="Oval 22"/>
          <p:cNvSpPr/>
          <p:nvPr/>
        </p:nvSpPr>
        <p:spPr>
          <a:xfrm>
            <a:off x="9994392" y="201168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81744" y="3017520"/>
            <a:ext cx="1956815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73184" y="310896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5. Optimize (7 Cs)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3184" y="3749039"/>
            <a:ext cx="17739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sz="1200">
                <a:solidFill>
                  <a:srgbClr val="0EA5E9"/>
                </a:solidFill>
                <a:latin typeface="Segoe UI"/>
              </a:rPr>
              <a:t>Continuous refinement of clarity, conciseness, and courtesy across future interactions</a:t>
            </a:r>
          </a:p>
        </p:txBody>
      </p:sp>
    </p:spTree>
  </p:cSld>
  <p:clrMapOvr>
    <a:masterClrMapping/>
  </p:clrMapOvr>
  <p:transition spd="med">
    <p:push dir="r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pic>
        <p:nvPicPr>
          <p:cNvPr id="9" name="Picture 8" descr="bg_w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100584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45920" y="1645920"/>
            <a:ext cx="228600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194560"/>
            <a:ext cx="8961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F172A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840480"/>
            <a:ext cx="8961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EA5E9"/>
                </a:solidFill>
                <a:latin typeface="Segoe UI"/>
              </a:defRPr>
            </a:pPr>
            <a:r>
              <a:t>Questions &amp; Open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93776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66F1"/>
                </a:solidFill>
                <a:latin typeface="Segoe UI"/>
              </a:defRPr>
            </a:pPr>
            <a:r>
              <a:t>Presented by: Yukti  •  September 2026</a:t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